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Aptos" charset="1" panose="020B00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612" t="0" r="-5861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54049" y="9183176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A TALE OF TWO REALITIES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KASHMIR: HEAVEN &amp; HELL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Natural beauty, living culture, conflict and the search for a more peaceful future.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A region known for its Himalayan landscapes and rich cultural heritage.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Its modern history also includes conflict, displacement and political change.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This presentation looks at both sides of that story.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354" t="0" r="-4613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54049" y="9183176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NATURAL BEAUTY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The Heaven of India — Natural Beauty &amp; Geography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Kashmir’s landscape is shaped by mountains, lakes, rivers and fertile valleys.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Dal Lake, Gulmarg, Pahalgam and Sonamarg are major scenic destinations.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The Himalayan setting gives Kashmir a distinctive natural character.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Tourism is closely connected with its landscapes and changing seasons.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443" t="0" r="-7344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49" y="9183176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NATURAL BEAUTY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Landmarks, Flora, Fauna &amp; Four Seasons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Each season changes the appearance and experience of Kashmir.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Winter brings snow; spring brings flowers and tulips.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Summer creates green valleys and clear mountain views.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Autumn is known for golden Chinar foliage.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Hangul and saffron are notable parts of the region’s natural heritage.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320" t="0" r="-7332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54049" y="9183176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CULTURE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The Soul of Kashmir — Culture &amp; Kashmiriyat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Kashmiri culture reflects a long history of shared traditions and diverse influences.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Kashmiriyat is commonly used to describe a shared cultural ethos.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Sufi traditions have had an important influence on Kashmiri culture.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Muslim, Pandit and Sikh communities have contributed to its heritage.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Hospitality, poetry, music and family traditions remain significant.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71568" y="109814"/>
            <a:ext cx="7416375" cy="9627432"/>
            <a:chOff x="0" y="0"/>
            <a:chExt cx="9888499" cy="1283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88474" cy="12836525"/>
            </a:xfrm>
            <a:custGeom>
              <a:avLst/>
              <a:gdLst/>
              <a:ahLst/>
              <a:cxnLst/>
              <a:rect r="r" b="b" t="t" l="l"/>
              <a:pathLst>
                <a:path h="12836525" w="9888474">
                  <a:moveTo>
                    <a:pt x="0" y="0"/>
                  </a:moveTo>
                  <a:lnTo>
                    <a:pt x="9888474" y="0"/>
                  </a:lnTo>
                  <a:lnTo>
                    <a:pt x="9888474" y="12836525"/>
                  </a:lnTo>
                  <a:lnTo>
                    <a:pt x="0" y="12836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361" t="0" r="-5425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06970" y="9258300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CULTURE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Arts, Crafts, Cuisine &amp; Community Life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Culture is visible in the things people create, cook, wear and share.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Pashmina, papier-mâché, carpet weaving and walnut carving are well-known crafts.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Wazwan and kahwa are important parts of Kashmiri cuisine.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Rouf, traditional music, poetry and storytelling add to the cultural identity.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Craft skills and hospitality continue across generations.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443" t="0" r="-7344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49" y="9183176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HISTORY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Partition, Accession &amp; the First War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The Kashmir dispute developed during the political transition of 1947.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Partition created India and Pakistan and left princely states to decide their accession.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Maharaja Hari Singh initially sought to remain independent.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In October 1947, armed tribal forces entered the state and the ruler signed the Instrument of Accession to India.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Fighting followed in 1947–48 and ended with a UN-brokered ceasefire.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443" t="0" r="-7344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49" y="9183176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HISTORY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Indo–Pak Wars, Division &amp; the Line of Control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Later conflicts changed the region’s military and political geography.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1947–48 — First India–Pakistan war over Jammu &amp; Kashmir.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1965 — Kashmir remained central to another India–Pakistan war.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1971 — War in East Pakistan was followed by the 1972 Simla Agreement.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The ceasefire line was renamed the Line of Control (LoC).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0577" t="0" r="-2262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54049" y="9183176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HUMAN COST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Insurgency, Exodus &amp; Civilian Life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From the late 1980s, violence and security operations deeply affected daily life.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Armed insurgency expanded in the Valley and security operations continued for decades.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Large-scale migration of Kashmiri Pandit families occurred around 1990.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The 1999 Kargil conflict became another major phase of India–Pakistan fighting.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Civilian life was affected through fear, loss, disruption and displacement.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443" t="0" r="-7344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54049" y="9183176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HUMAN COST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Displacement, Education &amp; Livelihoods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Conflict affected homes, education, work, memories and opportunities.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Displacement created long-term questions about home, identity and return.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Periods of unrest disrupted schooling and everyday routines.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Tourism, trade, agriculture and local businesses were affected by instability.</a:t>
            </a:r>
          </a:p>
          <a:p>
            <a:pPr algn="l">
              <a:lnSpc>
                <a:spcPts val="2791"/>
              </a:lnSpc>
            </a:pPr>
            <a:r>
              <a:rPr lang="en-US" sz="2325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• The human cost remains an important part of Kashmir’s modern history.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7389" t="0" r="-5738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6970" y="9087088"/>
            <a:ext cx="3019901" cy="466725"/>
            <a:chOff x="0" y="0"/>
            <a:chExt cx="4026535" cy="62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535" cy="622300"/>
            </a:xfrm>
            <a:custGeom>
              <a:avLst/>
              <a:gdLst/>
              <a:ahLst/>
              <a:cxnLst/>
              <a:rect r="r" b="b" t="t" l="l"/>
              <a:pathLst>
                <a:path h="622300" w="4026535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59"/>
                  </a:cubicBezTo>
                  <a:lnTo>
                    <a:pt x="4026535" y="518541"/>
                  </a:lnTo>
                  <a:cubicBezTo>
                    <a:pt x="4026535" y="575818"/>
                    <a:pt x="3980053" y="622300"/>
                    <a:pt x="3922776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8991000"/>
            <a:ext cx="9745980" cy="24670"/>
            <a:chOff x="0" y="0"/>
            <a:chExt cx="12994640" cy="328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94640" cy="32893"/>
            </a:xfrm>
            <a:custGeom>
              <a:avLst/>
              <a:gdLst/>
              <a:ahLst/>
              <a:cxnLst/>
              <a:rect r="r" b="b" t="t" l="l"/>
              <a:pathLst>
                <a:path h="32893" w="12994640">
                  <a:moveTo>
                    <a:pt x="0" y="0"/>
                  </a:moveTo>
                  <a:lnTo>
                    <a:pt x="12994640" y="0"/>
                  </a:lnTo>
                  <a:lnTo>
                    <a:pt x="12994640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54049" y="9183176"/>
            <a:ext cx="2470814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KASHMIR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72" y="631431"/>
            <a:ext cx="54906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7392" y="617706"/>
            <a:ext cx="93341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MODERN SHIFT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2" y="1391726"/>
            <a:ext cx="9951872" cy="135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05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Conclusion — Beauty, Conflict &amp; Hope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2772794"/>
            <a:ext cx="9745970" cy="9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Kashmir is best understood through its landscape, culture, history and the human experiences shaped by conflict.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872" y="3884666"/>
            <a:ext cx="2059010" cy="34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2A785B"/>
                </a:solidFill>
                <a:latin typeface="Aptos Bold"/>
                <a:ea typeface="Aptos Bold"/>
                <a:cs typeface="Aptos Bold"/>
                <a:sym typeface="Aptos Bold"/>
              </a:rPr>
              <a:t>KEY POINTS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872" y="4365098"/>
            <a:ext cx="9745970" cy="41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BEAUTY — Himalayan landscapes, lakes and a rich cultural heritage.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CONFLICT — decades of violence, insecurity and displacement.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HUMAN COST — disruption to homes, livelihoods, education and everyday life.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OPERATION SINDOOR — On 7 May 2025, India announced precision strikes on nine sites in Pakistan and the part of Jammu and Kashmir administered by Pakistan, following the 22 April 2025 Pahalgam attack.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HOPE — safety, opportunity, development and preservation of heritage.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9823"/>
            <a:chOff x="0" y="0"/>
            <a:chExt cx="24402415" cy="146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46431"/>
            </a:xfrm>
            <a:custGeom>
              <a:avLst/>
              <a:gdLst/>
              <a:ahLst/>
              <a:cxnLst/>
              <a:rect r="r" b="b" t="t" l="l"/>
              <a:pathLst>
                <a:path h="1464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A7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36353" y="617706"/>
            <a:ext cx="6520148" cy="9059608"/>
            <a:chOff x="0" y="0"/>
            <a:chExt cx="8693531" cy="1207947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693531" cy="12079478"/>
            </a:xfrm>
            <a:custGeom>
              <a:avLst/>
              <a:gdLst/>
              <a:ahLst/>
              <a:cxnLst/>
              <a:rect r="r" b="b" t="t" l="l"/>
              <a:pathLst>
                <a:path h="12079478" w="8693531">
                  <a:moveTo>
                    <a:pt x="0" y="0"/>
                  </a:moveTo>
                  <a:lnTo>
                    <a:pt x="8693531" y="0"/>
                  </a:lnTo>
                  <a:lnTo>
                    <a:pt x="8693531" y="12079478"/>
                  </a:lnTo>
                  <a:lnTo>
                    <a:pt x="0" y="1207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4210" t="0" r="-5421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98137" y="2932195"/>
            <a:ext cx="9334176" cy="97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4"/>
              </a:lnSpc>
            </a:pPr>
            <a:r>
              <a:rPr lang="en-US" sz="6003" b="true">
                <a:solidFill>
                  <a:srgbClr val="1E3041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5588" y="4205697"/>
            <a:ext cx="9196902" cy="59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3302">
                <a:solidFill>
                  <a:srgbClr val="2A785B"/>
                </a:solidFill>
                <a:latin typeface="Aptos"/>
                <a:ea typeface="Aptos"/>
                <a:cs typeface="Aptos"/>
                <a:sym typeface="Aptos"/>
              </a:rPr>
              <a:t>Kashmir: Heaven &amp; Hell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5588" y="5106343"/>
            <a:ext cx="9196902" cy="48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525E68"/>
                </a:solidFill>
                <a:latin typeface="Aptos"/>
                <a:ea typeface="Aptos"/>
                <a:cs typeface="Aptos"/>
                <a:sym typeface="Aptos"/>
              </a:rPr>
              <a:t>Questions &amp; Discussion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5588" y="6108392"/>
            <a:ext cx="7412450" cy="24670"/>
            <a:chOff x="0" y="0"/>
            <a:chExt cx="9883267" cy="328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83267" cy="32893"/>
            </a:xfrm>
            <a:custGeom>
              <a:avLst/>
              <a:gdLst/>
              <a:ahLst/>
              <a:cxnLst/>
              <a:rect r="r" b="b" t="t" l="l"/>
              <a:pathLst>
                <a:path h="32893" w="9883267">
                  <a:moveTo>
                    <a:pt x="0" y="0"/>
                  </a:moveTo>
                  <a:lnTo>
                    <a:pt x="9883267" y="0"/>
                  </a:lnTo>
                  <a:lnTo>
                    <a:pt x="9883267" y="32893"/>
                  </a:lnTo>
                  <a:lnTo>
                    <a:pt x="0" y="32893"/>
                  </a:lnTo>
                  <a:close/>
                </a:path>
              </a:pathLst>
            </a:custGeom>
            <a:solidFill>
              <a:srgbClr val="DAE0DE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DAHV2q9I1q8</dc:identifier>
  <dcterms:modified xsi:type="dcterms:W3CDTF">2011-08-01T06:04:30Z</dcterms:modified>
  <cp:revision>1</cp:revision>
  <dc:title>DOC-20260922-WA0011.pptx</dc:title>
</cp:coreProperties>
</file>